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DEVFOCUS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89920" y="6473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</a:rPr>
              <a:t>2026.06.15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85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DEVFOCUS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6766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개발자를 위한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통합 학습 플랫폼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30632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CDD3"/>
                </a:solidFill>
              </a:rPr>
              <a:t>P1 · P2 · P3 요구사항 구현 및 운영 개선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703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96A3"/>
                </a:solidFill>
              </a:rPr>
              <a:t>Next.js 16  |  Express 5  |  MySQL 8  |  Toss Payments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0" y="1554480"/>
            <a:ext cx="1097280" cy="3200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학생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281160" y="1554480"/>
            <a:ext cx="1097280" cy="32004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강사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515600" y="1554480"/>
            <a:ext cx="1097280" cy="320040"/>
          </a:xfrm>
          <a:prstGeom prst="rect">
            <a:avLst/>
          </a:prstGeom>
          <a:solidFill>
            <a:srgbClr val="FF385C"/>
          </a:solidFill>
          <a:ln>
            <a:solidFill>
              <a:srgbClr val="FF385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관리자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046720" y="2240280"/>
            <a:ext cx="3566160" cy="2240280"/>
          </a:xfrm>
          <a:prstGeom prst="roundRect">
            <a:avLst/>
          </a:prstGeom>
          <a:solidFill>
            <a:srgbClr val="252525"/>
          </a:solidFill>
          <a:ln w="12700">
            <a:solidFill>
              <a:srgbClr val="4141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2606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배우기 → 결제 → 학습 → 완강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458200" y="3337560"/>
            <a:ext cx="27432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9BEC7"/>
                </a:solidFill>
              </a:rPr>
              <a:t>강의 운영과 관측성까지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9BEC7"/>
                </a:solidFill>
              </a:rPr>
              <a:t>하나의 서비스로 연결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6080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96A3"/>
                </a:solidFill>
              </a:rPr>
              <a:t>2026.06.15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91919"/>
                </a:solidFill>
              </a:rPr>
              <a:t>01. 프로젝트 개요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961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개발 학습의 분산된 경험을 하나의 흐름으로 통합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73152" cy="1874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184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919"/>
                </a:solidFill>
              </a:rPr>
              <a:t>학습자 문제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075688"/>
            <a:ext cx="3108960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강의 탐색, 결제, 영상 시청, 진도와 질문이 서로 분리되어 학습 맥락이 끊김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141732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3400" y="1417320"/>
            <a:ext cx="73152" cy="1874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6184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919"/>
                </a:solidFill>
              </a:rPr>
              <a:t>강사 문제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075688"/>
            <a:ext cx="3108960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강의·레슨 관리뿐 아니라 수강생과 매출, 학습률을 함께 확인하기 어려움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38160" y="141732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38160" y="1417320"/>
            <a:ext cx="73152" cy="1874520"/>
          </a:xfrm>
          <a:prstGeom prst="rect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16184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919"/>
                </a:solidFill>
              </a:rPr>
              <a:t>운영 문제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66760" y="2075688"/>
            <a:ext cx="3108960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인증, 결제, 알림, 배치, 장애 로그와 모니터링이 각각 별도 관리됨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" y="3794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85C"/>
                </a:solidFill>
              </a:rPr>
              <a:t>목표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4251960"/>
            <a:ext cx="109728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91919"/>
                </a:solidFill>
              </a:rPr>
              <a:t>학생의 학습 몰입과 강사의 운영 효율, 관리자의 서비스 안정성을 동시에 높이는 강의 플랫폼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91919"/>
                </a:solidFill>
              </a:rPr>
              <a:t>02. P1 · P2 · P3 요구사항 충족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961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기능 구현에서 운영 가능한 구조까지 단계적으로 확장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25880"/>
            <a:ext cx="73152" cy="4297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270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919"/>
                </a:solidFill>
              </a:rPr>
              <a:t>P1 학생 서비스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984248"/>
            <a:ext cx="3108960" cy="3493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• 모바일 반응형 UI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• 강의·레슨·진도 CRUD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• 집중 타이머·Q&amp;A·스니펫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• MySQL 영구 저장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132588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3400" y="1325880"/>
            <a:ext cx="73152" cy="4297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5270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919"/>
                </a:solidFill>
              </a:rPr>
              <a:t>P2 인증·권한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1984248"/>
            <a:ext cx="3108960" cy="3493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• JWT 로그인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• student / instructor / admin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• 강의 소유권 검증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• 관리자 회원·강의 관리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38160" y="132588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38160" y="1325880"/>
            <a:ext cx="73152" cy="4297680"/>
          </a:xfrm>
          <a:prstGeom prst="rect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15270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919"/>
                </a:solidFill>
              </a:rPr>
              <a:t>P3 운영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66760" y="1984248"/>
            <a:ext cx="3108960" cy="3493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• 이메일·Discord·Webhook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• Scheduler·정산·결제 만료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• 로그·Health·Metrics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• 보안·성능·Docker·결제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91919"/>
                </a:solidFill>
              </a:rPr>
              <a:t>03. 시스템 아키텍처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961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역할별 UI와 운영 기능을 API 및 MySQL 중심으로 구성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8346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73152" cy="2103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299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919"/>
                </a:solidFill>
              </a:rPr>
              <a:t>Next.js 16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487168"/>
            <a:ext cx="242316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모바일 UI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결제위젯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학습 플레이어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51960" y="1828800"/>
            <a:ext cx="28346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51960" y="1828800"/>
            <a:ext cx="73152" cy="21031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20299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919"/>
                </a:solidFill>
              </a:rPr>
              <a:t>Express 5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80560" y="2487168"/>
            <a:ext cx="242316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REST API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JWT/RBAC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Validation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863840" y="1828800"/>
            <a:ext cx="28346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863840" y="1828800"/>
            <a:ext cx="73152" cy="2103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2440" y="20299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919"/>
                </a:solidFill>
              </a:rPr>
              <a:t>MySQL 8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92440" y="2487168"/>
            <a:ext cx="242316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강의·진도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결제·정산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운영 로그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11880" y="2423160"/>
            <a:ext cx="457200" cy="685800"/>
          </a:xfrm>
          <a:prstGeom prst="chevron">
            <a:avLst/>
          </a:prstGeom>
          <a:solidFill>
            <a:srgbClr val="B8BDC7"/>
          </a:solidFill>
          <a:ln w="12700">
            <a:solidFill>
              <a:srgbClr val="B8BDC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23760" y="2423160"/>
            <a:ext cx="457200" cy="685800"/>
          </a:xfrm>
          <a:prstGeom prst="chevron">
            <a:avLst/>
          </a:prstGeom>
          <a:solidFill>
            <a:srgbClr val="B8BDC7"/>
          </a:solidFill>
          <a:ln w="12700">
            <a:solidFill>
              <a:srgbClr val="B8BD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709160"/>
            <a:ext cx="1920240" cy="320040"/>
          </a:xfrm>
          <a:prstGeom prst="rect">
            <a:avLst/>
          </a:prstGeom>
          <a:solidFill>
            <a:srgbClr val="FF385C"/>
          </a:solidFill>
          <a:ln>
            <a:solidFill>
              <a:srgbClr val="FF385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Toss Payments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0" y="4709160"/>
            <a:ext cx="1280160" cy="3200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SMTP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4709160"/>
            <a:ext cx="1463040" cy="320040"/>
          </a:xfrm>
          <a:prstGeom prst="rect">
            <a:avLst/>
          </a:prstGeom>
          <a:solidFill>
            <a:srgbClr val="5865F2"/>
          </a:solidFill>
          <a:ln>
            <a:solidFill>
              <a:srgbClr val="5865F2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Discord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92240" y="4709160"/>
            <a:ext cx="1463040" cy="32004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Webhook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0" y="4709160"/>
            <a:ext cx="1645920" cy="3200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Scheduler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149840" y="4709160"/>
            <a:ext cx="1188720" cy="320040"/>
          </a:xfrm>
          <a:prstGeom prst="rect">
            <a:avLst/>
          </a:prstGeom>
          <a:solidFill>
            <a:srgbClr val="475569"/>
          </a:solidFill>
          <a:ln>
            <a:solidFill>
              <a:srgbClr val="475569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Docker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91919"/>
                </a:solidFill>
              </a:rPr>
              <a:t>04. 학생 수강 경험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961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결제 이후 완강까지 끊기지 않는 학습 흐름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325880" cy="1325880"/>
          </a:xfrm>
          <a:prstGeom prst="ellipse">
            <a:avLst/>
          </a:prstGeom>
          <a:solidFill>
            <a:srgbClr val="191919"/>
          </a:solidFill>
          <a:ln w="12700">
            <a:solidFill>
              <a:srgbClr val="19191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12140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" y="33832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1919"/>
                </a:solidFill>
              </a:rPr>
              <a:t>강의 탐색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920240" y="2221992"/>
            <a:ext cx="320040" cy="502920"/>
          </a:xfrm>
          <a:prstGeom prst="chevron">
            <a:avLst/>
          </a:prstGeom>
          <a:solidFill>
            <a:srgbClr val="C8CDD5"/>
          </a:solidFill>
          <a:ln w="12700">
            <a:solidFill>
              <a:srgbClr val="C8CD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41448" y="1828800"/>
            <a:ext cx="1325880" cy="1325880"/>
          </a:xfrm>
          <a:prstGeom prst="ellipse">
            <a:avLst/>
          </a:prstGeom>
          <a:solidFill>
            <a:srgbClr val="191919"/>
          </a:solidFill>
          <a:ln w="12700">
            <a:solidFill>
              <a:srgbClr val="19191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98648" y="212140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58568" y="33832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1919"/>
                </a:solidFill>
              </a:rPr>
              <a:t>결제/무료 등록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58768" y="2221992"/>
            <a:ext cx="320040" cy="502920"/>
          </a:xfrm>
          <a:prstGeom prst="chevron">
            <a:avLst/>
          </a:prstGeom>
          <a:solidFill>
            <a:srgbClr val="C8CDD5"/>
          </a:solidFill>
          <a:ln w="12700">
            <a:solidFill>
              <a:srgbClr val="C8CD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79976" y="1828800"/>
            <a:ext cx="1325880" cy="1325880"/>
          </a:xfrm>
          <a:prstGeom prst="ellipse">
            <a:avLst/>
          </a:prstGeom>
          <a:solidFill>
            <a:srgbClr val="191919"/>
          </a:solidFill>
          <a:ln w="12700">
            <a:solidFill>
              <a:srgbClr val="19191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37176" y="212140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197096" y="33832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1919"/>
                </a:solidFill>
              </a:rPr>
              <a:t>이어보기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97296" y="2221992"/>
            <a:ext cx="320040" cy="502920"/>
          </a:xfrm>
          <a:prstGeom prst="chevron">
            <a:avLst/>
          </a:prstGeom>
          <a:solidFill>
            <a:srgbClr val="C8CDD5"/>
          </a:solidFill>
          <a:ln w="12700">
            <a:solidFill>
              <a:srgbClr val="C8CD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18504" y="1828800"/>
            <a:ext cx="1325880" cy="1325880"/>
          </a:xfrm>
          <a:prstGeom prst="ellipse">
            <a:avLst/>
          </a:prstGeom>
          <a:solidFill>
            <a:srgbClr val="191919"/>
          </a:solidFill>
          <a:ln w="12700">
            <a:solidFill>
              <a:srgbClr val="19191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75704" y="212140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35624" y="33832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1919"/>
                </a:solidFill>
              </a:rPr>
              <a:t>자동 진도 저장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35824" y="2221992"/>
            <a:ext cx="320040" cy="502920"/>
          </a:xfrm>
          <a:prstGeom prst="chevron">
            <a:avLst/>
          </a:prstGeom>
          <a:solidFill>
            <a:srgbClr val="C8CDD5"/>
          </a:solidFill>
          <a:ln w="12700">
            <a:solidFill>
              <a:srgbClr val="C8CDD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57032" y="1828800"/>
            <a:ext cx="1325880" cy="1325880"/>
          </a:xfrm>
          <a:prstGeom prst="ellipse">
            <a:avLst/>
          </a:prstGeom>
          <a:solidFill>
            <a:srgbClr val="191919"/>
          </a:solidFill>
          <a:ln w="12700">
            <a:solidFill>
              <a:srgbClr val="19191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14232" y="212140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074152" y="33832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1919"/>
                </a:solidFill>
              </a:rPr>
              <a:t>90% 완강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674352" y="2221992"/>
            <a:ext cx="320040" cy="502920"/>
          </a:xfrm>
          <a:prstGeom prst="chevron">
            <a:avLst/>
          </a:prstGeom>
          <a:solidFill>
            <a:srgbClr val="C8CDD5"/>
          </a:solidFill>
          <a:ln w="12700">
            <a:solidFill>
              <a:srgbClr val="C8CD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95560" y="1828800"/>
            <a:ext cx="1325880" cy="132588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52760" y="212140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012680" y="33832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1919"/>
                </a:solidFill>
              </a:rPr>
              <a:t>수강평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4251960"/>
            <a:ext cx="1042416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91919"/>
                </a:solidFill>
              </a:rPr>
              <a:t>30초 자동 저장과 페이지 이탈 시 저장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91919"/>
                </a:solidFill>
              </a:rPr>
              <a:t>이전·다음 레슨 및 커리큘럼 완료 체크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91919"/>
                </a:solidFill>
              </a:rPr>
              <a:t>내 강의 진행률과 마지막 위치 기반 이어보기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91919"/>
                </a:solidFill>
              </a:rPr>
              <a:t>수강생만 작성 가능한 평점·리뷰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91919"/>
                </a:solidFill>
              </a:rPr>
              <a:t>05. 실결제 흐름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961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브라우저 결과를 신뢰하지 않고 서버에서 주문을 재검증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9202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181051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91919"/>
                </a:solidFill>
              </a:rPr>
              <a:t>1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67512" y="248716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주문 생성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7512" y="2926080"/>
            <a:ext cx="16002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DB 가격·수강 여부 확인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807208" y="1600200"/>
            <a:ext cx="19202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93008" y="181051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91919"/>
                </a:solidFill>
              </a:rPr>
              <a:t>2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2971800" y="248716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결제위젯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71800" y="2926080"/>
            <a:ext cx="16002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카드/간편결제 선택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111496" y="1600200"/>
            <a:ext cx="19202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97296" y="181051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91919"/>
                </a:solidFill>
              </a:rPr>
              <a:t>3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276088" y="248716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성공 Redirect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76088" y="2926080"/>
            <a:ext cx="16002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paymentKey·orderId·amount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15784" y="1600200"/>
            <a:ext cx="1920240" cy="2057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38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01584" y="181051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385C"/>
                </a:solidFill>
              </a:rPr>
              <a:t>4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7580376" y="248716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서버 승인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580376" y="2926080"/>
            <a:ext cx="16002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토스 승인 API + 금액 대조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720072" y="1600200"/>
            <a:ext cx="19202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05872" y="181051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91919"/>
                </a:solidFill>
              </a:rPr>
              <a:t>5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9884664" y="248716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수강 등록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884664" y="2926080"/>
            <a:ext cx="16002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트랜잭션·영수증·메일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94360" y="4206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385C"/>
                </a:solidFill>
              </a:rPr>
              <a:t>운영 조건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4617720"/>
            <a:ext cx="1078992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191919"/>
                </a:solidFill>
              </a:rPr>
              <a:t>토스페이먼츠 가맹점 키와 운영 도메인 등록 필요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191919"/>
                </a:solidFill>
              </a:rPr>
              <a:t>Client Key만 브라우저 노출, Secret Key는 백엔드 secret store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191919"/>
                </a:solidFill>
              </a:rPr>
              <a:t>관리자 환불은 토스 취소 API와 결제 상태를 함께 갱신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91919"/>
                </a:solidFill>
              </a:rPr>
              <a:t>06. 강사 기능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961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콘텐츠 CRUD를 넘어 데이터 기반 강의 운영 지원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34747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71600"/>
            <a:ext cx="73152" cy="21945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7276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919"/>
                </a:solidFill>
              </a:rPr>
              <a:t>강의 관리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029968"/>
            <a:ext cx="3063240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강의 생성·수정·삭제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가격·난이도·카테고리 설정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레슨 순서·영상·길이 관리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1371600"/>
            <a:ext cx="34747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3400" y="1371600"/>
            <a:ext cx="73152" cy="2194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57276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919"/>
                </a:solidFill>
              </a:rPr>
              <a:t>운영 분석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029968"/>
            <a:ext cx="3063240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강의 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전체 수강생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누적 매출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학습 활동 인원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92440" y="1371600"/>
            <a:ext cx="34747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92440" y="1371600"/>
            <a:ext cx="73152" cy="2194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57276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919"/>
                </a:solidFill>
              </a:rPr>
              <a:t>정산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21040" y="2029968"/>
            <a:ext cx="3063240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월별 총 매출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플랫폼 수수료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순정산액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지급 상태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" y="4069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385C"/>
                </a:solidFill>
              </a:rPr>
              <a:t>개선 효과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4526280"/>
            <a:ext cx="1060704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91919"/>
                </a:solidFill>
              </a:rPr>
              <a:t>강의별 수강 인원·매출·평균 학습률을 한 화면에서 확인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91919"/>
                </a:solidFill>
              </a:rPr>
              <a:t>리소스 소유권을 API에서 검사해 다른 강사의 강의 수정 차단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91919"/>
                </a:solidFill>
              </a:rPr>
              <a:t>결제 완료 데이터 기반 월별 정산 자동 계산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91919"/>
                </a:solidFill>
              </a:rPr>
              <a:t>07. 관리자와 모니터링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961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서비스 운영에 필요한 회원·결제·장애 상태를 통합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25880"/>
            <a:ext cx="73152" cy="3291840"/>
          </a:xfrm>
          <a:prstGeom prst="rect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2704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919"/>
                </a:solidFill>
              </a:rPr>
              <a:t>운영 콘솔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984248"/>
            <a:ext cx="3063240" cy="2487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회원 역할 변경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전체 강의 관리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결제 조회·환불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정산 지급 처리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132588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3400" y="1325880"/>
            <a:ext cx="73152" cy="3291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52704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919"/>
                </a:solidFill>
              </a:rPr>
              <a:t>관측성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1984248"/>
            <a:ext cx="3063240" cy="2487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JSON 구조화 로그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Request ID·응답 시간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/health DB 상태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관리자 /metrics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92440" y="132588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92440" y="1325880"/>
            <a:ext cx="73152" cy="3291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52704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919"/>
                </a:solidFill>
              </a:rPr>
              <a:t>배치·외부 연동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21040" y="1984248"/>
            <a:ext cx="3063240" cy="2487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결제 만료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90일 데이터 정리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월 정산·주간 리포트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Webhook 처리 이력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14400" y="516636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91919"/>
                </a:solidFill>
              </a:rPr>
              <a:t>운영자는 job_logs와 webhook_events에서 최근 성공·실패 원인을 확인할 수 있습니다.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91919"/>
                </a:solidFill>
              </a:rPr>
              <a:t>08. 보안과 성능 개선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961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서버 경계 검증과 측정 가능한 운영 성능에 집중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534924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25880"/>
            <a:ext cx="73152" cy="4343400"/>
          </a:xfrm>
          <a:prstGeom prst="rect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2704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919"/>
                </a:solidFill>
              </a:rPr>
              <a:t>보안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984248"/>
            <a:ext cx="4937760" cy="3538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SQL 파라미터 바인딩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JWT·RBAC·소유권 검증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Helmet·Rate Limit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Webhook HMAC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운영 Secret 필수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0" y="1325880"/>
            <a:ext cx="534924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325880"/>
            <a:ext cx="73152" cy="4343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52704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919"/>
                </a:solidFill>
              </a:rPr>
              <a:t>성능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46520" y="1984248"/>
            <a:ext cx="4937760" cy="3538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MySQL Connection Pool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검색·결제·배치 인덱스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Next.js standalone·압축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Google Font 빌드 의존 제거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모바일 우선 렌더링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91919"/>
                </a:solidFill>
              </a:rPr>
              <a:t>09. 배포 구성과 현재 상태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961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배포 준비와 실제 공개 배포 완료 여부를 구분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429000" cy="35204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71600"/>
            <a:ext cx="73152" cy="3520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727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919"/>
                </a:solidFill>
              </a:rPr>
              <a:t>준비 완료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029968"/>
            <a:ext cx="3017520" cy="2715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Frontend·Backend Dockerfile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MySQL 포함 Compose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환경변수 예제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운영 Runbook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Health·Metrics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1371600"/>
            <a:ext cx="3429000" cy="35204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0" y="1371600"/>
            <a:ext cx="73152" cy="3520440"/>
          </a:xfrm>
          <a:prstGeom prst="rect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5727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919"/>
                </a:solidFill>
              </a:rPr>
              <a:t>현재 상태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17720" y="2029968"/>
            <a:ext cx="3017520" cy="2715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공개 URL 없음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운영 DB 없음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로컬 주소만 정의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Docker Hub 이미지 다운로드 정체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공개 배포 미완료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38160" y="1371600"/>
            <a:ext cx="3429000" cy="35204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38160" y="1371600"/>
            <a:ext cx="73152" cy="3520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15727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919"/>
                </a:solidFill>
              </a:rPr>
              <a:t>다음 단계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66760" y="2029968"/>
            <a:ext cx="3017520" cy="2715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관리형 MySQL 배포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API·Frontend 공개 배포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Secret 등록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토스 도메인/키 전환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E2E 및 알림 검증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371600" y="5257800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385C"/>
                </a:solidFill>
              </a:rPr>
              <a:t>배포 주소: 미배포  |  로컬: http://localhost:3000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91919"/>
                </a:solidFill>
              </a:rPr>
              <a:t>10. 검증 결과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961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코드 품질과 의존성 보안은 자동화 명령으로 확인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Frontend lint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834640" y="164592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6A34A"/>
                </a:solidFill>
              </a:rPr>
              <a:t>PASS*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26280" y="1417320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645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Next.js build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29400" y="164592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6A34A"/>
                </a:solidFill>
              </a:rPr>
              <a:t>PASS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321040" y="1417320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1645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Backend tests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424160" y="164592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6A34A"/>
                </a:solidFill>
              </a:rPr>
              <a:t>3 PASS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" y="3291840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520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JS syntax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34640" y="352044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6A34A"/>
                </a:solidFill>
              </a:rPr>
              <a:t>PASS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26280" y="3291840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3520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Frontend audit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352044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6A34A"/>
                </a:solidFill>
              </a:rPr>
              <a:t>0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321040" y="3291840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0" y="3520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Backend audit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424160" y="352044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6A34A"/>
                </a:solidFill>
              </a:rPr>
              <a:t>0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77240" y="53949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* 기존 코드 스니펫 화면의 React Hook dependency 경고 2건은 잔존하며 수강 기능과 무관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91919"/>
                </a:solidFill>
              </a:rPr>
              <a:t>11. 향후 개선 로드맵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961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기능 수를 늘리기보다 운영 안정성과 학습 효과를 고도화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2560320" cy="31089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508760"/>
            <a:ext cx="73152" cy="3108960"/>
          </a:xfrm>
          <a:prstGeom prst="rect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0992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919"/>
                </a:solidFill>
              </a:rPr>
              <a:t>1단계  공개 배포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167128"/>
            <a:ext cx="2148840" cy="2304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관리형 DB·API·Frontend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도메인·TLS·Secret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47288" y="1508760"/>
            <a:ext cx="2560320" cy="31089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47288" y="1508760"/>
            <a:ext cx="73152" cy="3108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75888" y="170992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919"/>
                </a:solidFill>
              </a:rPr>
              <a:t>2단계  운영 자동화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75888" y="2167128"/>
            <a:ext cx="2148840" cy="2304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CI/CD·DB migration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알림 재시도·백업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00216" y="1508760"/>
            <a:ext cx="2560320" cy="31089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0216" y="1508760"/>
            <a:ext cx="73152" cy="31089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28816" y="170992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919"/>
                </a:solidFill>
              </a:rPr>
              <a:t>3단계  학습 고도화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28816" y="2167128"/>
            <a:ext cx="2148840" cy="2304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자막·배속·노트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퀴즈·수료증·추천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53144" y="1508760"/>
            <a:ext cx="2560320" cy="31089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53144" y="1508760"/>
            <a:ext cx="73152" cy="3108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81744" y="170992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919"/>
                </a:solidFill>
              </a:rPr>
              <a:t>4단계  비즈니스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381744" y="2167128"/>
            <a:ext cx="2148840" cy="2304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쿠폰·장바구니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부분 환불·세금계산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97280" y="51663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1919"/>
                </a:solidFill>
              </a:rPr>
              <a:t>우선순위: 공개 배포와 결제 E2E 검증 → 운영 안정화 → 학습 기능 확장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91919"/>
                </a:solidFill>
              </a:rPr>
              <a:t>12. 시연 순서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961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5분 데모 기준 핵심 사용자 흐름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325880"/>
            <a:ext cx="1033272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91919"/>
                </a:solidFill>
              </a:rPr>
              <a:t>학생 회원가입 및 로그인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91919"/>
                </a:solidFill>
              </a:rPr>
              <a:t>강의 탐색 → 결제위젯 → 결제 승인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91919"/>
                </a:solidFill>
              </a:rPr>
              <a:t>내 강의 이어보기 → 자동 진도 저장 → 완강 표시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91919"/>
                </a:solidFill>
              </a:rPr>
              <a:t>강사 대시보드에서 강의·매출·수강 현황 확인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91919"/>
                </a:solidFill>
              </a:rPr>
              <a:t>관리자 콘솔에서 회원·결제·환불·배치·Webhook 확인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91919"/>
                </a:solidFill>
              </a:rPr>
              <a:t>/health와 구조화 로그로 운영 상태 확인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468880" y="5349240"/>
            <a:ext cx="7223760" cy="594360"/>
          </a:xfrm>
          <a:prstGeom prst="roundRect">
            <a:avLst/>
          </a:prstGeom>
          <a:solidFill>
            <a:srgbClr val="191919"/>
          </a:solidFill>
          <a:ln w="12700">
            <a:solidFill>
              <a:srgbClr val="1919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51760" y="55046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감사합니다 · Questions?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DevFocus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DevFocus 개발자 학습 플랫폼</dc:title>
  <dc:subject>DevFocus P1-P3 project presentation</dc:subject>
  <dc:creator>DevFocus Team</dc:creator>
  <cp:lastModifiedBy>DevFocus Team</cp:lastModifiedBy>
  <cp:revision>1</cp:revision>
  <dcterms:created xsi:type="dcterms:W3CDTF">2026-06-14T15:23:17Z</dcterms:created>
  <dcterms:modified xsi:type="dcterms:W3CDTF">2026-06-14T15:23:17Z</dcterms:modified>
</cp:coreProperties>
</file>